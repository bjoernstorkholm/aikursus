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58166238864fca" /><Relationship Type="http://schemas.openxmlformats.org/officeDocument/2006/relationships/extended-properties" Target="/docProps/app.xml" Id="Rd8381974930a4ccb" /><Relationship Type="http://schemas.openxmlformats.org/officeDocument/2006/relationships/officeDocument" Target="/ppt/presentation.xml" Id="R90c3d3e40bec4b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8b7afdd3c4a4f"/>
  </p:sldMasterIdLst>
  <p:notesMasterIdLst>
    <p:notesMasterId xmlns:r="http://schemas.openxmlformats.org/officeDocument/2006/relationships" r:id="Re718e720f0e7433a"/>
  </p:notesMasterIdLst>
  <p:sldIdLst>
    <p:sldId xmlns:r="http://schemas.openxmlformats.org/officeDocument/2006/relationships" id="256" r:id="Ra89bb4b4cfe5487c"/>
    <p:sldId xmlns:r="http://schemas.openxmlformats.org/officeDocument/2006/relationships" id="257" r:id="R4581438efba6455e"/>
    <p:sldId xmlns:r="http://schemas.openxmlformats.org/officeDocument/2006/relationships" id="258" r:id="Rcea819b2869248b1"/>
    <p:sldId xmlns:r="http://schemas.openxmlformats.org/officeDocument/2006/relationships" id="259" r:id="Rd3077e3c61a346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e62d2d21144782" /><Relationship Type="http://schemas.openxmlformats.org/officeDocument/2006/relationships/slideMaster" Target="/ppt/slideMasters/slideMaster1.xml" Id="R22e8b7afdd3c4a4f" /><Relationship Type="http://schemas.openxmlformats.org/officeDocument/2006/relationships/notesMaster" Target="/ppt/notesMasters/notesMaster1.xml" Id="Re718e720f0e7433a" /><Relationship Type="http://schemas.openxmlformats.org/officeDocument/2006/relationships/presProps" Target="/ppt/presProps.xml" Id="R754960b72c7541cd" /><Relationship Type="http://schemas.openxmlformats.org/officeDocument/2006/relationships/tableStyles" Target="/ppt/tableStyles.xml" Id="Rc3da3c80e2334ef4" /><Relationship Type="http://schemas.openxmlformats.org/officeDocument/2006/relationships/slide" Target="/ppt/slides/slide1.xml" Id="Ra89bb4b4cfe5487c" /><Relationship Type="http://schemas.openxmlformats.org/officeDocument/2006/relationships/slide" Target="/ppt/slides/slide2.xml" Id="R4581438efba6455e" /><Relationship Type="http://schemas.openxmlformats.org/officeDocument/2006/relationships/slide" Target="/ppt/slides/slide3.xml" Id="Rcea819b2869248b1" /><Relationship Type="http://schemas.openxmlformats.org/officeDocument/2006/relationships/slide" Target="/ppt/slides/slide4.xml" Id="Rd3077e3c61a3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99ca2b52964e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29ce8e56da40b7" /><Relationship Type="http://schemas.openxmlformats.org/officeDocument/2006/relationships/notesMaster" Target="/ppt/notesMasters/notesMaster1.xml" Id="R45e2f40843394c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c1319430294bfb" /><Relationship Type="http://schemas.openxmlformats.org/officeDocument/2006/relationships/notesMaster" Target="/ppt/notesMasters/notesMaster1.xml" Id="R8ce82d5c6ba845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ca406d6d934b7f" /><Relationship Type="http://schemas.openxmlformats.org/officeDocument/2006/relationships/notesMaster" Target="/ppt/notesMasters/notesMaster1.xml" Id="R425481e59d8544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358c9bf7ce4c24" /><Relationship Type="http://schemas.openxmlformats.org/officeDocument/2006/relationships/notesMaster" Target="/ppt/notesMasters/notesMaster1.xml" Id="R7d3ef931b5234c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Fiktive leverandørdata udarbejdet til ProjektRadar-demonstrationen.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Fiktive leverandørdata udarbejdet til ProjektRadar-demonstrationen.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Fiktive leverandørdata udarbejdet til ProjektRadar-demonstrationen.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Fiktive leverandørdata udarbejdet til ProjektRadar-demonstrationen.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5dd707e5f40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4ec3311e7e4cbf" /><Relationship Type="http://schemas.openxmlformats.org/officeDocument/2006/relationships/slideLayout" Target="/ppt/slideLayouts/slideLayout1.xml" Id="Rbbb276163d044a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b276163d044a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c175e781e4ab3" /><Relationship Type="http://schemas.openxmlformats.org/officeDocument/2006/relationships/notesSlide" Target="/ppt/notesSlides/notesSlide1.xml" Id="R4248a7af71d944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2456b629b4f6d" /><Relationship Type="http://schemas.openxmlformats.org/officeDocument/2006/relationships/chart" Target="/ppt/slides/charts/chart1.xml" Id="Ra37910bb575d4723" /><Relationship Type="http://schemas.openxmlformats.org/officeDocument/2006/relationships/notesSlide" Target="/ppt/notesSlides/notesSlide2.xml" Id="Rf41852c9ffe343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f4a3669e842e1" /><Relationship Type="http://schemas.openxmlformats.org/officeDocument/2006/relationships/notesSlide" Target="/ppt/notesSlides/notesSlide3.xml" Id="Ra37c552324d44c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51307dd65467b" /><Relationship Type="http://schemas.openxmlformats.org/officeDocument/2006/relationships/notesSlide" Target="/ppt/notesSlides/notesSlide4.xml" Id="R1918645af85a421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Planlagt</c:v>
          </c:tx>
          <c:spPr>
            <a:solidFill xmlns:a="http://schemas.openxmlformats.org/drawingml/2006/main">
              <a:srgbClr val="005EA8"/>
            </a:solidFill>
          </c:spPr>
          <c:cat>
            <c:strLit>
              <c:ptCount val="5"/>
              <c:pt idx="0">
                <c:v>Portal</c:v>
              </c:pt>
              <c:pt idx="1">
                <c:v>Integration</c:v>
              </c:pt>
              <c:pt idx="2">
                <c:v>Data</c:v>
              </c:pt>
              <c:pt idx="3">
                <c:v>Sikkerhed</c:v>
              </c:pt>
              <c:pt idx="4">
                <c:v>Implementering</c:v>
              </c:pt>
            </c:strLit>
          </c:cat>
          <c:val>
            <c:numLit>
              <c:formatCode>0" %"</c:formatCode>
              <c:ptCount val="5"/>
              <c:pt idx="0">
                <c:v>92</c:v>
              </c:pt>
              <c:pt idx="1">
                <c:v>78</c:v>
              </c:pt>
              <c:pt idx="2">
                <c:v>65</c:v>
              </c:pt>
              <c:pt idx="3">
                <c:v>40</c:v>
              </c:pt>
              <c:pt idx="4">
                <c:v>25</c:v>
              </c:pt>
            </c:numLit>
          </c:val>
        </c:ser>
        <c:ser>
          <c:idx val="1"/>
          <c:order val="1"/>
          <c:tx>
            <c:v>Faktisk</c:v>
          </c:tx>
          <c:spPr>
            <a:solidFill xmlns:a="http://schemas.openxmlformats.org/drawingml/2006/main">
              <a:srgbClr val="006E75"/>
            </a:solidFill>
          </c:spPr>
          <c:cat>
            <c:strLit>
              <c:ptCount val="5"/>
              <c:pt idx="0">
                <c:v>Portal</c:v>
              </c:pt>
              <c:pt idx="1">
                <c:v>Integration</c:v>
              </c:pt>
              <c:pt idx="2">
                <c:v>Data</c:v>
              </c:pt>
              <c:pt idx="3">
                <c:v>Sikkerhed</c:v>
              </c:pt>
              <c:pt idx="4">
                <c:v>Implementering</c:v>
              </c:pt>
            </c:strLit>
          </c:cat>
          <c:val>
            <c:numLit>
              <c:formatCode>0" %"</c:formatCode>
              <c:ptCount val="5"/>
              <c:pt idx="0">
                <c:v>90</c:v>
              </c:pt>
              <c:pt idx="1">
                <c:v>71</c:v>
              </c:pt>
              <c:pt idx="2">
                <c:v>61</c:v>
              </c:pt>
              <c:pt idx="3">
                <c:v>36</c:v>
              </c:pt>
              <c:pt idx="4">
                <c:v>23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DADF"/>
              </a:solidFill>
              <a:prstDash val="solid"/>
            </a:ln>
          </c:spPr>
        </c:majorGridlines>
        <c:numFmt formatCode="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788C2-1835-4E03-ACCA-55C10124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12B"/>
                </a:solidFill>
              </a:defRPr>
            </a:pPr>
            <a:r>
              <a:rPr sz="3450" b="1">
                <a:solidFill>
                  <a:srgbClr val="17212B"/>
                </a:solidFill>
              </a:rPr>
              <a:t>Leverandørstatus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33456-C930-48E9-BEDD-B6F3AD34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5EA8"/>
                </a:solidFill>
              </a:defRPr>
            </a:pPr>
            <a:r>
              <a:rPr sz="1875" b="1">
                <a:solidFill>
                  <a:srgbClr val="005EA8"/>
                </a:solidFill>
              </a:rPr>
              <a:t>Projekt Aurora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6AF37-6CE5-4FB6-B8B7-667BCB21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A5560"/>
                </a:solidFill>
              </a:defRPr>
            </a:pPr>
            <a:r>
              <a:rPr sz="1350">
                <a:solidFill>
                  <a:srgbClr val="4A5560"/>
                </a:solidFill>
              </a:rPr>
              <a:t>Rapportering til styregruppen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E6A42-EA1F-4FBB-BE96-0A3A9D9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90600"/>
            <a:ext cx="4171950" cy="426720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D0758-2892-4828-814F-F715698D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3906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A5560"/>
                </a:solidFill>
              </a:defRPr>
            </a:pPr>
            <a:r>
              <a:rPr sz="975" b="1">
                <a:solidFill>
                  <a:srgbClr val="4A5560"/>
                </a:solidFill>
              </a:rPr>
              <a:t>SAMLET LEVERANCESTATUS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D2FF0-FC92-41E8-A1C8-1B699D84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621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CC262-6374-4427-8550-357B703A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62150"/>
            <a:ext cx="11620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D9F52-7E46-4D46-AC12-372D7CC4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193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12B"/>
                </a:solidFill>
              </a:defRPr>
            </a:pPr>
            <a:r>
              <a:rPr sz="3000" b="1">
                <a:solidFill>
                  <a:srgbClr val="17212B"/>
                </a:solidFill>
              </a:rPr>
              <a:t>76 %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8F596-EEA3-423B-8A01-483E083C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5560"/>
                </a:solidFill>
              </a:defRPr>
            </a:pPr>
            <a:r>
              <a:rPr sz="1050">
                <a:solidFill>
                  <a:srgbClr val="4A5560"/>
                </a:solidFill>
              </a:rPr>
              <a:t>samlet fremdrift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5844D-3899-4F53-9CFB-2E930AE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739FB-E29C-4FF8-A329-B91B2C5B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338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A5560"/>
                </a:solidFill>
              </a:defRPr>
            </a:pPr>
            <a:r>
              <a:rPr sz="1050">
                <a:solidFill>
                  <a:srgbClr val="4A5560"/>
                </a:solidFill>
              </a:rPr>
              <a:t>Seneste forventede go-live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732EE-9396-42B7-88AB-9E7BD78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6A00"/>
                </a:solidFill>
              </a:defRPr>
            </a:pPr>
            <a:r>
              <a:rPr sz="2100" b="1">
                <a:solidFill>
                  <a:srgbClr val="B26A00"/>
                </a:solidFill>
              </a:rPr>
              <a:t>14. december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F0DB6-0441-43DC-9087-7859DB8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339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26A00"/>
                </a:solidFill>
              </a:defRPr>
            </a:pPr>
            <a:r>
              <a:rPr sz="1050" b="1">
                <a:solidFill>
                  <a:srgbClr val="B26A00"/>
                </a:solidFill>
              </a:rPr>
              <a:t>14 dage efter kundens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D0F11-2C02-4C04-8EF7-88F8A755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EA8"/>
                </a:solidFill>
              </a:defRPr>
            </a:pPr>
            <a:r>
              <a:rPr sz="975" b="1">
                <a:solidFill>
                  <a:srgbClr val="005EA8"/>
                </a:solidFill>
              </a:rPr>
              <a:t>Hovedbudskab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F07B4-B3EC-4F2F-A6B7-8D5B3EE7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09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rPr sz="1650" b="1">
                <a:solidFill>
                  <a:srgbClr val="17212B"/>
                </a:solidFill>
              </a:rPr>
              <a:t>Integrationerne kræver ét ekstra sprint. Leverandøren anbefaler samlet idriftsættelse i december frem for at komprimere testforløbet.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01A47-CDD4-4069-95B0-BCE3786F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F94E0-B33E-4024-BEBC-C582C439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EA8"/>
                </a:solidFill>
              </a:defRPr>
            </a:pPr>
            <a:r>
              <a:rPr sz="900" b="1">
                <a:solidFill>
                  <a:srgbClr val="005EA8"/>
                </a:solidFill>
              </a:rPr>
              <a:t>AURORA · LEVERANDØRSTATUS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BBADF-8FC3-4F71-B10C-A0B439D1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A5560"/>
                </a:solidFill>
              </a:defRPr>
            </a:pPr>
            <a:r>
              <a:rPr sz="825" b="1">
                <a:solidFill>
                  <a:srgbClr val="4A5560"/>
                </a:solidFill>
              </a:rPr>
              <a:t>LEDELSESRESUME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3E52BC-DECC-4426-8590-CAA0C636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54F2C-40C0-4D1C-9474-9674A295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FIKTIVT DEMOMATERIALE · Status pr. 14. august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06C14C-F7F3-42D2-9EC3-FD78A34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154768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AD8901-2913-4CCB-B4AD-A698F6E3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Fremdriften kan indhentes delvist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2108D-B452-4373-9BF7-32B859F9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A5560"/>
                </a:solidFill>
              </a:defRPr>
            </a:pPr>
            <a:r>
              <a:rPr sz="1350">
                <a:solidFill>
                  <a:srgbClr val="4A5560"/>
                </a:solidFill>
              </a:rPr>
              <a:t>Integration er ét sprint efter plan; øvrige spor er tæt på målet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D9B8A-9242-4277-9D4D-E043F3E0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239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904875" y="2324100"/>
          <a:ext xmlns:a="http://schemas.openxmlformats.org/drawingml/2006/main" cx="6667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7910bb575d472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BBD3E-5134-46A1-9E6E-A3900BB4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390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9F22E6-83BE-4573-9EEE-B3CD2330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FECA1-9240-4A12-AE5E-0224760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A5560"/>
                </a:solidFill>
              </a:defRPr>
            </a:pPr>
            <a:r>
              <a:rPr sz="825" b="1">
                <a:solidFill>
                  <a:srgbClr val="4A5560"/>
                </a:solidFill>
              </a:rPr>
              <a:t>INTEGRATION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CB7A1-06C3-414B-AE4D-B33E4B46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526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–7 pct.point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E1141-7AA2-4F3C-8ABB-40F0F7A9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560"/>
                </a:solidFill>
              </a:defRPr>
            </a:pPr>
            <a:r>
              <a:rPr sz="825">
                <a:solidFill>
                  <a:srgbClr val="4A5560"/>
                </a:solidFill>
              </a:rPr>
              <a:t>Stabilisering og regression er i gang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A2573-663C-4C88-A00E-BE17F309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3390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B33DD-F8A9-4D9F-A91A-8063214F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FBA04-D815-4489-BA4C-9E78E4D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A5560"/>
                </a:solidFill>
              </a:defRPr>
            </a:pPr>
            <a:r>
              <a:rPr sz="825" b="1">
                <a:solidFill>
                  <a:srgbClr val="4A5560"/>
                </a:solidFill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B436B-0031-45D7-94D1-A7B051AE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2902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1,6 %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6F212-738B-4C7F-9EED-29B02AF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195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560"/>
                </a:solidFill>
              </a:defRPr>
            </a:pPr>
            <a:r>
              <a:rPr sz="825">
                <a:solidFill>
                  <a:srgbClr val="4A5560"/>
                </a:solidFill>
              </a:rPr>
              <a:t>poster afvist i prøvemigrering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257EA0-EC4C-46D1-9F4B-336260A2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33909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13836-070D-4A01-B70F-45DCCDDB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564AD-C7ED-4668-B5D7-1824CB5D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A5560"/>
                </a:solidFill>
              </a:defRPr>
            </a:pPr>
            <a:r>
              <a:rPr sz="825" b="1">
                <a:solidFill>
                  <a:srgbClr val="4A5560"/>
                </a:solidFill>
              </a:rPr>
              <a:t>KONSEKVENS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B748B-6E6F-41A3-9731-F4F47056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05375"/>
            <a:ext cx="2933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+1 sprint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8B6C8-BFBB-46C2-9FE8-0CAB4F9F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959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A5560"/>
                </a:solidFill>
              </a:defRPr>
            </a:pPr>
            <a:r>
              <a:rPr sz="825">
                <a:solidFill>
                  <a:srgbClr val="4A5560"/>
                </a:solidFill>
              </a:rPr>
              <a:t>Produktionsklar build forventes 27. november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755D4-8CA3-43CF-AFAB-49347F8B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A8D15-D92E-422F-AB61-1F027B0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EA8"/>
                </a:solidFill>
              </a:defRPr>
            </a:pPr>
            <a:r>
              <a:rPr sz="900" b="1">
                <a:solidFill>
                  <a:srgbClr val="005EA8"/>
                </a:solidFill>
              </a:rPr>
              <a:t>AURORA · LEVERANDØRSTATUS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ECEBF-6F30-4A18-8CA3-510065F4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A5560"/>
                </a:solidFill>
              </a:defRPr>
            </a:pPr>
            <a:r>
              <a:rPr sz="825" b="1">
                <a:solidFill>
                  <a:srgbClr val="4A5560"/>
                </a:solidFill>
              </a:rPr>
              <a:t>FREMDRIFT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1A900-B121-4D88-9C6A-7E3C2D69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2FC1C3-F6A8-4DFE-ACBC-35DA200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FIKTIVT DEMOMATERIALE · Status pr. 14. august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4A162-A1EC-4405-8879-33B68CFA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40394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CBBE4D-687F-42EC-92B3-733BF005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Tre forhold kræver styring før go-live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7B846-B747-4FC7-A7D8-5947776A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A5560"/>
                </a:solidFill>
              </a:defRPr>
            </a:pPr>
            <a:r>
              <a:rPr sz="1350">
                <a:solidFill>
                  <a:srgbClr val="4A5560"/>
                </a:solidFill>
              </a:rPr>
              <a:t>De er håndterbare, men kræver én fælles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D4F6F-B905-43F2-A4E5-B9605D84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143250" cy="35433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86CD2-DAE9-4F46-BC27-69AEC32F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6A00"/>
                </a:solidFill>
              </a:defRPr>
            </a:pPr>
            <a:r>
              <a:rPr sz="2400" b="1">
                <a:solidFill>
                  <a:srgbClr val="B26A00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6F2A6-135B-490A-8274-2828D264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Sikkerhedstest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42828-89CA-4342-8B21-9C023127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A5560"/>
                </a:solidFill>
              </a:defRPr>
            </a:pPr>
            <a:r>
              <a:rPr sz="1275">
                <a:solidFill>
                  <a:srgbClr val="4A5560"/>
                </a:solidFill>
              </a:rPr>
              <a:t>Testen er booket 1.–3. december. Det er efter kundens baseline, men før den foreslåede december-release.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ACFD7-D004-460D-A168-99958414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609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7ACC5-4E23-4CDA-9658-9B96A53B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PLAN SKAL OPDATERES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B312A-DD91-41A7-B7F2-D076A42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38350"/>
            <a:ext cx="3143250" cy="35433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F530D-645B-4862-8274-8A2FEB9D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6A00"/>
                </a:solidFill>
              </a:defRPr>
            </a:pPr>
            <a:r>
              <a:rPr sz="2400" b="1">
                <a:solidFill>
                  <a:srgbClr val="B26A0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25086-DDA8-4191-80C9-B92D070D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Dataejerskab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CF074-B494-446B-8029-A8B17F44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A5560"/>
                </a:solidFill>
              </a:defRPr>
            </a:pPr>
            <a:r>
              <a:rPr sz="1275">
                <a:solidFill>
                  <a:srgbClr val="4A5560"/>
                </a:solidFill>
              </a:rPr>
              <a:t>Julie Mark er foreslået som dataejer, men mandatet til at acceptere mindre restfejl er ikke bekræftet.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2924C-97F9-42AE-B280-050F7334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95850"/>
            <a:ext cx="2609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6049F-CA87-40C4-B25C-8021CD4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958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MANDAT BEKRÆFTES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82AFA-E976-4389-A02A-F3241245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38350"/>
            <a:ext cx="3143250" cy="35433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52117-A93B-44C3-A810-E8F5EF24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62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6A00"/>
                </a:solidFill>
              </a:defRPr>
            </a:pPr>
            <a:r>
              <a:rPr sz="2400" b="1">
                <a:solidFill>
                  <a:srgbClr val="B26A00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9F12A-AC43-40F4-9FD9-322F9DD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Dato og bemanding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3A0F3-A71D-4502-9D15-4D8C4545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60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A5560"/>
                </a:solidFill>
              </a:defRPr>
            </a:pPr>
            <a:r>
              <a:rPr sz="1275">
                <a:solidFill>
                  <a:srgbClr val="4A5560"/>
                </a:solidFill>
              </a:rPr>
              <a:t>Leverandørplanen styrer efter 14. december 2026. Kundens arbejdsplan fastholder november.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BDF0B-45FB-4CE5-AB2F-B9F573E6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26098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2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7C24E-1A30-4DD5-832D-C5AD66A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TO STYRINGSDATOER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E1DDB-2D4B-4F60-B0BB-3DB8B27E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B6630-F0A7-4CC9-BD5F-CA6B3F82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EA8"/>
                </a:solidFill>
              </a:defRPr>
            </a:pPr>
            <a:r>
              <a:rPr sz="900" b="1">
                <a:solidFill>
                  <a:srgbClr val="005EA8"/>
                </a:solidFill>
              </a:rPr>
              <a:t>AURORA · LEVERANDØRSTATUS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34413-7EFE-4E1B-8065-44A62FFB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A5560"/>
                </a:solidFill>
              </a:defRPr>
            </a:pPr>
            <a:r>
              <a:rPr sz="825" b="1">
                <a:solidFill>
                  <a:srgbClr val="4A5560"/>
                </a:solidFill>
              </a:rPr>
              <a:t>BLOKERINGER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A9119-9BCA-4F96-BB00-C451EE02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319E0-3219-4399-8228-D9F24129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FIKTIVT DEMOMATERIALE · Status pr. 14. august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F8FE5D-BEED-46F2-8ADD-44DF8C13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61810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00771-BB8B-4206-A734-C890E44C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12B"/>
                </a:solidFill>
              </a:defRPr>
            </a:pPr>
            <a:r>
              <a:rPr sz="2700" b="1">
                <a:solidFill>
                  <a:srgbClr val="17212B"/>
                </a:solidFill>
              </a:rPr>
              <a:t>Vælg én realistisk styringslinje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EAFD8-0074-4107-A8BF-F63AFA34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A5560"/>
                </a:solidFill>
              </a:defRPr>
            </a:pPr>
            <a:r>
              <a:rPr sz="1350">
                <a:solidFill>
                  <a:srgbClr val="4A5560"/>
                </a:solidFill>
              </a:rPr>
              <a:t>Leverandørens anbefaling til styregruppen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FC483-5658-4520-B2FF-B916C3B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0294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BB105-3ADB-4643-8ACA-6BCFE584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EA8"/>
                </a:solidFill>
              </a:defRPr>
            </a:pPr>
            <a:r>
              <a:rPr sz="975" b="1">
                <a:solidFill>
                  <a:srgbClr val="005EA8"/>
                </a:solidFill>
              </a:rPr>
              <a:t>ANBEFALET BESLUTNING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ABE2B-92CE-42C2-81EF-291921D9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5667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Flyt samlet go-live til</a:t>
            </a:r>
          </a:p>
          <a:p xmlns:a="http://schemas.openxmlformats.org/drawingml/2006/main">
            <a:pPr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14. december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469D6-8973-475E-AFBC-4E5D474A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A5560"/>
                </a:solidFill>
              </a:defRPr>
            </a:pPr>
            <a:r>
              <a:rPr sz="1500">
                <a:solidFill>
                  <a:srgbClr val="4A5560"/>
                </a:solidFill>
              </a:rPr>
              <a:t>Det giver plads til afsluttet integrationstest, godkendt datamigrering og penetrationstest før produktionssætning.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5850C-BC96-40B1-BDB6-768E4B75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19300"/>
            <a:ext cx="35814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9F2F9"/>
          </a:solidFill>
          <a:ln xmlns:a="http://schemas.openxmlformats.org/drawingml/2006/main" w="9525">
            <a:solidFill>
              <a:srgbClr val="B8D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7DD6F-42F6-439C-8DAB-3199062B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5EA8"/>
                </a:solidFill>
              </a:defRPr>
            </a:pPr>
            <a:r>
              <a:rPr sz="975" b="1">
                <a:solidFill>
                  <a:srgbClr val="005EA8"/>
                </a:solidFill>
              </a:rPr>
              <a:t>BESLUTTES NU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614F5-5FB8-4DBF-9E17-DCE9E386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12B"/>
                </a:solidFill>
              </a:defRPr>
            </a:pPr>
            <a:r>
              <a:rPr sz="1275" b="1">
                <a:solidFill>
                  <a:srgbClr val="17212B"/>
                </a:solidFill>
              </a:rPr>
              <a:t>1  Godkend ny dato og kommunikationsplan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19CEE-49EA-4AD5-9C93-594D0CE6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2  Godkend håndtering af 0,65 mio. kr.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749C8-F488-409A-B7BA-4AE2BC60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814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3  Bekræft dataejerens acceptmandat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C027A-4496-414D-A249-9A042F9E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4  Fasthold test- og retestvinduet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2E798-AF00-4F7D-93BF-0B76CB70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99D80C-F5F6-4FB8-968A-CDEF926F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5EA8"/>
                </a:solidFill>
              </a:defRPr>
            </a:pPr>
            <a:r>
              <a:rPr sz="900" b="1">
                <a:solidFill>
                  <a:srgbClr val="005EA8"/>
                </a:solidFill>
              </a:rPr>
              <a:t>AURORA · LEVERANDØRSTATUS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28EBD-9C2A-4F28-99EF-FEDDEF01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A5560"/>
                </a:solidFill>
              </a:defRPr>
            </a:pPr>
            <a:r>
              <a:rPr sz="825" b="1">
                <a:solidFill>
                  <a:srgbClr val="4A5560"/>
                </a:solidFill>
              </a:rPr>
              <a:t>ANBEFALING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E2575-CF04-4E42-8760-2330C870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4600E-A373-4855-B960-5768B460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FIKTIVT DEMOMATERIALE · Status pr. 14. august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8BDE1-5E1E-4DF4-9E84-A6A7B8B6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4A5560"/>
                </a:solidFill>
              </a:defRPr>
            </a:pPr>
            <a:r>
              <a:rPr sz="750">
                <a:solidFill>
                  <a:srgbClr val="4A556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2906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2026-08-27T14:15:29.4200000Z</dcterms:created>
  <dcterms:modified xsi:type="dcterms:W3CDTF">2026-08-27T14:15:29.4200000Z</dcterms:modified>
</coreProperties>
</file>