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a5817bbf44d76" /><Relationship Type="http://schemas.openxmlformats.org/officeDocument/2006/relationships/extended-properties" Target="/docProps/app.xml" Id="R9b0b90a8164440b3" /><Relationship Type="http://schemas.openxmlformats.org/officeDocument/2006/relationships/officeDocument" Target="/ppt/presentation.xml" Id="Rc2be307f634647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8a6be90444cdc"/>
  </p:sldMasterIdLst>
  <p:notesMasterIdLst>
    <p:notesMasterId xmlns:r="http://schemas.openxmlformats.org/officeDocument/2006/relationships" r:id="R1b80f9ac27d5407e"/>
  </p:notesMasterIdLst>
  <p:sldIdLst>
    <p:sldId xmlns:r="http://schemas.openxmlformats.org/officeDocument/2006/relationships" id="256" r:id="R070371b50d2c446b"/>
    <p:sldId xmlns:r="http://schemas.openxmlformats.org/officeDocument/2006/relationships" id="257" r:id="R28ecb98af65e413c"/>
    <p:sldId xmlns:r="http://schemas.openxmlformats.org/officeDocument/2006/relationships" id="258" r:id="R2429c11379e84c3b"/>
    <p:sldId xmlns:r="http://schemas.openxmlformats.org/officeDocument/2006/relationships" id="259" r:id="R20cdc1d0d3cf489e"/>
    <p:sldId xmlns:r="http://schemas.openxmlformats.org/officeDocument/2006/relationships" id="260" r:id="Rd0ac82f73061401e"/>
    <p:sldId xmlns:r="http://schemas.openxmlformats.org/officeDocument/2006/relationships" id="261" r:id="R90f9a3e99c4449af"/>
    <p:sldId xmlns:r="http://schemas.openxmlformats.org/officeDocument/2006/relationships" id="262" r:id="R596ba7f98c174503"/>
    <p:sldId xmlns:r="http://schemas.openxmlformats.org/officeDocument/2006/relationships" id="263" r:id="Ra198fdaf893a423a"/>
    <p:sldId xmlns:r="http://schemas.openxmlformats.org/officeDocument/2006/relationships" id="264" r:id="Rd483219b891d4a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a7b4b471a486b" /><Relationship Type="http://schemas.openxmlformats.org/officeDocument/2006/relationships/slideMaster" Target="/ppt/slideMasters/slideMaster1.xml" Id="R78f8a6be90444cdc" /><Relationship Type="http://schemas.openxmlformats.org/officeDocument/2006/relationships/notesMaster" Target="/ppt/notesMasters/notesMaster1.xml" Id="R1b80f9ac27d5407e" /><Relationship Type="http://schemas.openxmlformats.org/officeDocument/2006/relationships/presProps" Target="/ppt/presProps.xml" Id="Rda19212f70b94cb6" /><Relationship Type="http://schemas.openxmlformats.org/officeDocument/2006/relationships/tableStyles" Target="/ppt/tableStyles.xml" Id="R9b7492d38bdd41a4" /><Relationship Type="http://schemas.openxmlformats.org/officeDocument/2006/relationships/slide" Target="/ppt/slides/slide1.xml" Id="R070371b50d2c446b" /><Relationship Type="http://schemas.openxmlformats.org/officeDocument/2006/relationships/slide" Target="/ppt/slides/slide2.xml" Id="R28ecb98af65e413c" /><Relationship Type="http://schemas.openxmlformats.org/officeDocument/2006/relationships/slide" Target="/ppt/slides/slide3.xml" Id="R2429c11379e84c3b" /><Relationship Type="http://schemas.openxmlformats.org/officeDocument/2006/relationships/slide" Target="/ppt/slides/slide4.xml" Id="R20cdc1d0d3cf489e" /><Relationship Type="http://schemas.openxmlformats.org/officeDocument/2006/relationships/slide" Target="/ppt/slides/slide5.xml" Id="Rd0ac82f73061401e" /><Relationship Type="http://schemas.openxmlformats.org/officeDocument/2006/relationships/slide" Target="/ppt/slides/slide6.xml" Id="R90f9a3e99c4449af" /><Relationship Type="http://schemas.openxmlformats.org/officeDocument/2006/relationships/slide" Target="/ppt/slides/slide7.xml" Id="R596ba7f98c174503" /><Relationship Type="http://schemas.openxmlformats.org/officeDocument/2006/relationships/slide" Target="/ppt/slides/slide8.xml" Id="Ra198fdaf893a423a" /><Relationship Type="http://schemas.openxmlformats.org/officeDocument/2006/relationships/slide" Target="/ppt/slides/slide9.xml" Id="Rd483219b891d4a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6476435f6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d5683bc8a4a51" /><Relationship Type="http://schemas.openxmlformats.org/officeDocument/2006/relationships/notesMaster" Target="/ppt/notesMasters/notesMaster1.xml" Id="Rbb3496d65778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dc54befb7463e" /><Relationship Type="http://schemas.openxmlformats.org/officeDocument/2006/relationships/notesMaster" Target="/ppt/notesMasters/notesMaster1.xml" Id="R80b38e77575a44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e0335fb1b4ee7" /><Relationship Type="http://schemas.openxmlformats.org/officeDocument/2006/relationships/notesMaster" Target="/ppt/notesMasters/notesMaster1.xml" Id="R41d60fdd5abb4d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aeb51a2a04f0c" /><Relationship Type="http://schemas.openxmlformats.org/officeDocument/2006/relationships/notesMaster" Target="/ppt/notesMasters/notesMaster1.xml" Id="R4fb931bcd53a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da166f53b3402a" /><Relationship Type="http://schemas.openxmlformats.org/officeDocument/2006/relationships/notesMaster" Target="/ppt/notesMasters/notesMaster1.xml" Id="Rf7c364e58b8942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0ad79324614eed" /><Relationship Type="http://schemas.openxmlformats.org/officeDocument/2006/relationships/notesMaster" Target="/ppt/notesMasters/notesMaster1.xml" Id="R30c68b37e3a4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edca39b8be4587" /><Relationship Type="http://schemas.openxmlformats.org/officeDocument/2006/relationships/notesMaster" Target="/ppt/notesMasters/notesMaster1.xml" Id="R637e3a07f49441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87cc0de64445e5" /><Relationship Type="http://schemas.openxmlformats.org/officeDocument/2006/relationships/notesMaster" Target="/ppt/notesMasters/notesMaster1.xml" Id="R20d442d4544344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08c25e47314cbf" /><Relationship Type="http://schemas.openxmlformats.org/officeDocument/2006/relationships/notesMaster" Target="/ppt/notesMasters/notesMaster1.xml" Id="R37fd44a4bc3a4a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Åbn med idéen: ProjektRadar gør uens dokumenter anvendelige for den rolle, der skal handle på dem.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README.md; Components/Pages/Home.razor; wwwroot/app.css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Forklar, at de to modes deler den samme interaktion, men svarer på forskellige spørgsmål.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README.md; Components/Pages/Home.razor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Brug denne slide som orientering. Peg på, at flowet er fælles og resultatet er rollebestemt.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README.md; Components/Pages/Home.razor; wwwroot/js/projektradar.js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 startsiden i Projektkontrol. Understreg de to indgange: live upload eller eksempelresultat.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Components/Pages/Home.razor lines 43–92; wwwroot/app.css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Ved live-demo: download demofilerne på forhånd, udpak, og drag filerne ind. Resultatet kommer direkte på siden.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Components/Pages/Home.razor lines 106–169; README.md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 først de fire nøgletal. Dyk derefter ned i én konflikt og slut ved handlingsplanen.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Services/DemoAnalysisService.cs; Components/Pages/Home.razor lines 172–464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Skift mode i dropdownen. Peg på, at navigationen og sproget nu er udviklerorienteret.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Components/Pages/Home.razor lines 60–91; wwwroot/app.css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Vis, at resultatet både giver overblik og en midlertidig arbejdshypotese, så udvikleren kan komme videre uden at skjule usikkerheden.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Services/ArchitectureAnalysisService.cs; Components/Pages/Home.razor lines 465–647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Afslut med den fælles værdi. Gå derefter direkte til live-demoen og gennemfør flowet fra upload til resultat.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ProjektRadar.zip: README.md; Components/Pages/Home.razor; Services/DemoAnalysisService.cs; Services/ArchitectureAnalysisService.cs (accessed 2026-08-28)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50df449f4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e0bc2546e74d1d" /><Relationship Type="http://schemas.openxmlformats.org/officeDocument/2006/relationships/slideLayout" Target="/ppt/slideLayouts/slideLayout1.xml" Id="R9125c22ba50c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5c22ba50c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e0110559f49a0" /><Relationship Type="http://schemas.openxmlformats.org/officeDocument/2006/relationships/notesSlide" Target="/ppt/notesSlides/notesSlide1.xml" Id="Rab6de105a0bd4e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a0b7370a3427d" /><Relationship Type="http://schemas.openxmlformats.org/officeDocument/2006/relationships/notesSlide" Target="/ppt/notesSlides/notesSlide2.xml" Id="R934ce3d98823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24a410cd94762" /><Relationship Type="http://schemas.openxmlformats.org/officeDocument/2006/relationships/notesSlide" Target="/ppt/notesSlides/notesSlide3.xml" Id="R5937a4ffb6d949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91c293cde47c1" /><Relationship Type="http://schemas.openxmlformats.org/officeDocument/2006/relationships/notesSlide" Target="/ppt/notesSlides/notesSlide4.xml" Id="R3f7e182b69ba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2afa2d4294aa2" /><Relationship Type="http://schemas.openxmlformats.org/officeDocument/2006/relationships/notesSlide" Target="/ppt/notesSlides/notesSlide5.xml" Id="Ra90fcf6dade2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6e9a3af3b4835" /><Relationship Type="http://schemas.openxmlformats.org/officeDocument/2006/relationships/notesSlide" Target="/ppt/notesSlides/notesSlide6.xml" Id="Rde798206cef9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35f75a6864f00" /><Relationship Type="http://schemas.openxmlformats.org/officeDocument/2006/relationships/notesSlide" Target="/ppt/notesSlides/notesSlide7.xml" Id="R430c948e040a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93c56c76d486c" /><Relationship Type="http://schemas.openxmlformats.org/officeDocument/2006/relationships/notesSlide" Target="/ppt/notesSlides/notesSlide8.xml" Id="R92205277cdc24c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8257d0dc4579" /><Relationship Type="http://schemas.openxmlformats.org/officeDocument/2006/relationships/notesSlide" Target="/ppt/notesSlides/notesSlide9.xml" Id="Rae6780b01c29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C1A51-A21D-4589-BE97-76234EC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06D05-8B42-4B0D-A36E-F6A2C66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53F3F-3C4A-4A18-AB68-0D55180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7E284-496A-4006-89DF-78D9EC6F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49F63-F738-48F4-B442-1DF2CAEC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6C763-97AC-4FD9-AB2F-BFAB46A4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BC17C-5345-4DF9-9AE3-2700103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858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4"/>
                </a:solidFill>
              </a:defRPr>
            </a:pPr>
            <a:r>
              <a:rPr sz="4050" b="1">
                <a:solidFill>
                  <a:srgbClr val="172124"/>
                </a:solidFill>
              </a:rPr>
              <a:t>Fra filkaos til</a:t>
            </a:r>
          </a:p>
          <a:p xmlns:a="http://schemas.openxmlformats.org/drawingml/2006/main">
            <a:pPr algn="l">
              <a:defRPr sz="4050" b="1">
                <a:solidFill>
                  <a:srgbClr val="172124"/>
                </a:solidFill>
              </a:defRPr>
            </a:pPr>
            <a:r>
              <a:rPr sz="4050" b="1">
                <a:solidFill>
                  <a:srgbClr val="172124"/>
                </a:solidFill>
              </a:rPr>
              <a:t>ét handlingsklart overblik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B1705-00B7-43D9-85F8-9B108D9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5159"/>
                </a:solidFill>
              </a:defRPr>
            </a:pPr>
            <a:r>
              <a:rPr sz="1875" b="1">
                <a:solidFill>
                  <a:srgbClr val="0B5159"/>
                </a:solidFill>
              </a:rPr>
              <a:t>Website-flowet i ProjektRadar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8AEEF-8F5C-4378-8F5E-75218F8D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To roller · samme enkle arbejdsgang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4F6B5-5FA5-4882-A87A-50227E55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4BD7B-BFF1-4340-AD50-4C6A7F64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2405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C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5766C-83E1-4220-A101-1CB65E2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95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F"/>
          </a:solidFill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92E6A-56BC-4F14-8FC1-8F73EDD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95500"/>
            <a:ext cx="109537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6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4201C-0989-42AF-A3D8-6F669DF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D95F5-491F-4A3D-8725-12F33F9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3650E-FE92-4119-9971-56AA3800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EF"/>
          </a:solidFill>
          <a:ln xmlns:a="http://schemas.openxmlformats.org/drawingml/2006/main" w="9525">
            <a:solidFill>
              <a:srgbClr val="BDD9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BB56F-3EB8-4F57-89E2-FEB0636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86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159"/>
                </a:solidFill>
              </a:defRPr>
            </a:pPr>
            <a:r>
              <a:rPr sz="975" b="1">
                <a:solidFill>
                  <a:srgbClr val="0B5159"/>
                </a:solidFill>
              </a:rPr>
              <a:t>PROJEKTKONTROL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5CC0C-52F1-40C3-B6EE-023426F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6725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438"/>
          </a:solidFill>
          <a:ln xmlns:a="http://schemas.openxmlformats.org/drawingml/2006/main" w="9525">
            <a:solidFill>
              <a:srgbClr val="2334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18A11-0E81-4338-986C-AEBBCE70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86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ARKITEKTUROVERBLIK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54AF0-3B4D-42F4-997B-DA604D7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A6E"/>
                </a:solidFill>
              </a:defRPr>
            </a:pPr>
            <a:r>
              <a:rPr sz="825" b="0">
                <a:solidFill>
                  <a:srgbClr val="5D6A6E"/>
                </a:solidFill>
              </a:rPr>
              <a:t>Kilde: det aktuelle website i ProjektRadar.zip</a:t>
            </a:r>
          </a:p>
        </p:txBody>
      </p:sp>
    </p:spTree>
    <p:extLst>
      <p:ext uri="{BB962C8B-B14F-4D97-AF65-F5344CB8AC3E}">
        <p14:creationId xmlns:p14="http://schemas.microsoft.com/office/powerpoint/2010/main" val="1647960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BDA4D-80AB-4EBA-92C3-D0E504C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65CC0-9077-46B8-A6CF-5C8F159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20F1B-E197-4182-B618-9F7441B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47897-02A0-4FB9-A6D6-8CB35FE6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5ACF-7F7A-495B-BFC1-0B8D68C3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1FF7F-73B5-4F21-A2BB-70D4E88E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AE38E1-8DA8-485C-9F57-194FFDDF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Én løsning skifter perspektiv med rollen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1CFA5-31BD-4E27-AFB4-6346254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Brugeren vælger visning; resten af navigationen, analysen og resultatet følger 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2FFB-4A47-4CDC-B510-A35827C7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095875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DFE8B-2642-4724-8999-3F8BBAD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95875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233438"/>
          </a:solidFill>
          <a:ln xmlns:a="http://schemas.openxmlformats.org/drawingml/2006/main" w="9525">
            <a:solidFill>
              <a:srgbClr val="2334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5DD58-5172-4B04-81C1-4C82CF27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EF"/>
          </a:solidFill>
          <a:ln xmlns:a="http://schemas.openxmlformats.org/drawingml/2006/main" w="9525">
            <a:solidFill>
              <a:srgbClr val="BDD9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C8826-DAF2-4588-ABC8-FAA3A83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159"/>
                </a:solidFill>
              </a:defRPr>
            </a:pPr>
            <a:r>
              <a:rPr sz="975" b="1">
                <a:solidFill>
                  <a:srgbClr val="0B5159"/>
                </a:solidFill>
              </a:rPr>
              <a:t>LEDELSE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635B5-7216-48C7-9745-C6C2F0B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4"/>
                </a:solidFill>
              </a:defRPr>
            </a:pPr>
            <a:r>
              <a:rPr sz="2325" b="1">
                <a:solidFill>
                  <a:srgbClr val="172124"/>
                </a:solidFill>
              </a:rPr>
              <a:t>Projektkontrol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030B3-AEF2-4BDC-B5C3-A236022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Projektplaner, budgetter, risikolog, referater og statusmateriale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FE3C8-E771-4C0B-B07A-C028903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Risici og dokumentkonflikter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Manglende beslutninger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Handlinger, ansvar og tidslinje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9E779-D13B-4621-AA91-1D53D206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574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65B"/>
          </a:solidFill>
          <a:ln xmlns:a="http://schemas.openxmlformats.org/drawingml/2006/main" w="9525">
            <a:solidFill>
              <a:srgbClr val="4E70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7D7A3-3EDD-44D4-8B10-516E4503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765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UDVIKLING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06AB3-98CC-45E6-8454-20138E2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Arkitekturoverblik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A7071-FB3E-4E76-A445-33655C7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4290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EDADD"/>
                </a:solidFill>
              </a:defRPr>
            </a:pPr>
            <a:r>
              <a:rPr sz="1350" b="0">
                <a:solidFill>
                  <a:srgbClr val="CEDADD"/>
                </a:solidFill>
              </a:rPr>
              <a:t>Noter, API-udkast, ADR’er, schemas, SQL, mails og integrationslister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69FB4-3709-487F-9BF2-EC1440D5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053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Krav, interfaces og afhængigheder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Modstridende specifikationer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Hvad kan kodes nu – og hvad blokerer?</a:t>
            </a:r>
          </a:p>
        </p:txBody>
      </p:sp>
    </p:spTree>
    <p:extLst>
      <p:ext uri="{BB962C8B-B14F-4D97-AF65-F5344CB8AC3E}">
        <p14:creationId xmlns:p14="http://schemas.microsoft.com/office/powerpoint/2010/main" val="2099237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946DA5-13D9-40C3-B133-710D9F2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4FACC-72D6-405A-A44E-13258466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FAD73-A910-4735-B822-50EE2B4D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18440-3B1F-4536-9AA1-169AB38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0A361-F182-46CD-9625-9EC51245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EC739-C5B2-403F-ABF9-F326BAD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E92CAA-A5BC-4CFB-9D6B-56507B7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Hele rejsen kan forklares i fem trin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5D604-6D92-446C-89A4-082C8AE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Det er det samme flow i begge visninger—kun inputtyper og resultatets fokus ændres.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23E1-245A-43D0-821E-6F40B8B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5811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97A82-AC85-4624-84AE-679CC1C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15811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8FD79-5123-4956-BDEE-BFEDF28C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5811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3438"/>
          </a:solidFill>
          <a:ln xmlns:a="http://schemas.openxmlformats.org/drawingml/2006/main" w="9525">
            <a:solidFill>
              <a:srgbClr val="2334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51B09-B9AB-47BD-81DC-DC52D02B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15811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C7355-585A-409D-9EB4-877E5027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52700"/>
            <a:ext cx="15811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22670-25D5-48A0-B41A-311A2292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6E79"/>
                </a:solidFill>
              </a:defRPr>
            </a:pPr>
            <a:r>
              <a:rPr sz="2175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CB8DA-AF4F-454A-A3F5-19E9FC88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6E79"/>
                </a:solidFill>
              </a:defRPr>
            </a:pPr>
            <a:r>
              <a:rPr sz="2175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C0E1C-5AB2-4E52-861A-F94231A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6E79"/>
                </a:solidFill>
              </a:defRPr>
            </a:pPr>
            <a:r>
              <a:rPr sz="2175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DB2E6-680B-4104-B717-B5DC0427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6E79"/>
                </a:solidFill>
              </a:defRPr>
            </a:pPr>
            <a:r>
              <a:rPr sz="2175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B275F-322C-4497-8B37-3E67B687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1  Vælg visning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599D7-EE0F-4AA7-AC54-33CD989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Projektkontrol eller</a:t>
            </a:r>
          </a:p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Arkitekturoverblik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581BD-B5A3-4DE2-8EA1-48FDB553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2  Upload filer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AB92A-E3AF-4F95-9266-A41F5E3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Drag’n’drop eller</a:t>
            </a:r>
          </a:p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Vælg filer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363B2-6034-427A-BDD8-E19F810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  Analysér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BAAAE-66B1-454A-B9B9-C6DC01B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8F3F4"/>
                </a:solidFill>
              </a:defRPr>
            </a:pPr>
            <a:r>
              <a:rPr sz="1050" b="0">
                <a:solidFill>
                  <a:srgbClr val="E8F3F4"/>
                </a:solidFill>
              </a:rPr>
              <a:t>Deterministisk</a:t>
            </a:r>
          </a:p>
          <a:p xmlns:a="http://schemas.openxmlformats.org/drawingml/2006/main">
            <a:pPr algn="ctr">
              <a:defRPr sz="1050" b="0">
                <a:solidFill>
                  <a:srgbClr val="E8F3F4"/>
                </a:solidFill>
              </a:defRPr>
            </a:pPr>
            <a:r>
              <a:rPr sz="1050" b="0">
                <a:solidFill>
                  <a:srgbClr val="E8F3F4"/>
                </a:solidFill>
              </a:rPr>
              <a:t>demoanalyse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3ADE6-D90A-407B-99B1-B9348D7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4  Skab overblik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BC3AB-5583-4217-AD50-12FE4EFA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Ledelses- eller</a:t>
            </a:r>
          </a:p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udviklersvar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42978-75F5-44AD-BD5F-B5633945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  Handl eller eksportér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3F8A7-0FFA-40C9-A352-B391FBAF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8F3F4"/>
                </a:solidFill>
              </a:defRPr>
            </a:pPr>
            <a:r>
              <a:rPr sz="1050" b="0">
                <a:solidFill>
                  <a:srgbClr val="E8F3F4"/>
                </a:solidFill>
              </a:rPr>
              <a:t>Redigér status og</a:t>
            </a:r>
          </a:p>
          <a:p xmlns:a="http://schemas.openxmlformats.org/drawingml/2006/main">
            <a:pPr algn="ctr">
              <a:defRPr sz="1050" b="0">
                <a:solidFill>
                  <a:srgbClr val="E8F3F4"/>
                </a:solidFill>
              </a:defRPr>
            </a:pPr>
            <a:r>
              <a:rPr sz="1050" b="0">
                <a:solidFill>
                  <a:srgbClr val="E8F3F4"/>
                </a:solidFill>
              </a:rPr>
              <a:t>download PDF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694838-E152-49E9-8BEB-F736562E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883920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E8EFF0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9277A-1C98-46B9-AF3B-674F650C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159"/>
                </a:solidFill>
              </a:defRPr>
            </a:pPr>
            <a:r>
              <a:rPr sz="975" b="1">
                <a:solidFill>
                  <a:srgbClr val="0B5159"/>
                </a:solidFill>
              </a:rPr>
              <a:t>Fælles løfte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AF8E65-593F-45A0-9F88-FD7E469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62500"/>
            <a:ext cx="814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4"/>
                </a:solidFill>
              </a:defRPr>
            </a:pPr>
            <a:r>
              <a:rPr sz="1350" b="1">
                <a:solidFill>
                  <a:srgbClr val="172124"/>
                </a:solidFill>
              </a:rPr>
              <a:t>Ingen dokumentdata sendes eksternt. Resultatet vises direkte på siden; PDF oprettes først, når brugeren vælger download.</a:t>
            </a:r>
          </a:p>
        </p:txBody>
      </p:sp>
    </p:spTree>
    <p:extLst>
      <p:ext uri="{BB962C8B-B14F-4D97-AF65-F5344CB8AC3E}">
        <p14:creationId xmlns:p14="http://schemas.microsoft.com/office/powerpoint/2010/main" val="282103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7C986-EC11-4B6C-A8CE-F49DC125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CCD24-3BF5-4983-8D7D-DE5D09E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65176-6CAC-47F7-B4CC-7208F83B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AF546-7E89-45FD-A1C8-4F01932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602FA-9A58-4437-98F8-93A6A102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C2788-DE15-4AB8-B66B-375ED0D2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CB710-AB25-4901-8A7E-E60BCFD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Projektkontrol starter med ledelsens spørgsmål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7D851-DE92-4577-A5EA-1AD64BD9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Kan vi se signalerne, før de udvikler sig til problemer?</a:t>
            </a:r>
          </a:p>
        </p:txBody>
      </p:sp>
      <p:sp>
        <p:nvSpPr>
          <p:cNvPr id="9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120556F0-CE70-493A-B1D9-DF0D4C05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0576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13970-11C5-483F-82D6-7A34269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57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9DAF8-8C7B-48F3-A119-3EC6FB02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187CA-94B3-4418-B000-30D1636A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42319-68AB-418B-A273-ECDD75A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4670D-0CBE-49E0-ADA4-E7195422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4951"/>
            <a:ext cx="93345" cy="58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33BD8-6D59-4B25-860F-3F5BF4B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22536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051A4-820B-4774-B442-3C87B2C9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E8F4C-2CF4-49F8-AC32-F57FC3D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0275"/>
            <a:ext cx="1952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B99CE-790A-4BBD-8F6C-9476137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VISNING   Projektkontrol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D26C0-A83D-4947-AC4B-EDD16654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516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A6E"/>
                </a:solidFill>
              </a:defRPr>
            </a:pPr>
            <a:r>
              <a:rPr sz="900" b="1">
                <a:solidFill>
                  <a:srgbClr val="5D6A6E"/>
                </a:solidFill>
              </a:rPr>
              <a:t>Dokumenter     Analyse     Risikovurdering     Handlingsplan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CA94C-92CA-4DE5-B9B3-6D5E793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466850" cy="295275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13465-23BC-40E6-A533-CC2FC99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02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4"/>
                </a:solidFill>
              </a:defRPr>
            </a:pPr>
            <a:r>
              <a:rPr sz="825" b="1">
                <a:solidFill>
                  <a:srgbClr val="172124"/>
                </a:solidFill>
              </a:rPr>
              <a:t>Download demofiler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8F314-F6F7-45D6-8F50-08664C4E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LEDELSESOVERBLIK FRA DOKUMENTER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173B3-5C2B-4DD6-A7C1-E3352BDE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4"/>
                </a:solidFill>
              </a:defRPr>
            </a:pPr>
            <a:r>
              <a:rPr sz="2700" b="1">
                <a:solidFill>
                  <a:srgbClr val="172124"/>
                </a:solidFill>
              </a:rPr>
              <a:t>Se projektets signaler, før</a:t>
            </a:r>
          </a:p>
          <a:p xmlns:a="http://schemas.openxmlformats.org/drawingml/2006/main">
            <a:pPr algn="l">
              <a:defRPr sz="2700" b="1">
                <a:solidFill>
                  <a:srgbClr val="172124"/>
                </a:solidFill>
              </a:defRPr>
            </a:pPr>
            <a:r>
              <a:rPr sz="2700" b="1">
                <a:solidFill>
                  <a:srgbClr val="172124"/>
                </a:solidFill>
              </a:rPr>
              <a:t>de bliver problemer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6788C-4045-441A-91F1-4ADE5C85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E"/>
                </a:solidFill>
              </a:defRPr>
            </a:pPr>
            <a:r>
              <a:rPr sz="1200" b="0">
                <a:solidFill>
                  <a:srgbClr val="5D6A6E"/>
                </a:solidFill>
              </a:rPr>
              <a:t>ProjektRadar samler spredte projektdokumenter til ét forståeligt billede af risici, konflikter, manglende beslutninger og næste handling.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6E65E-E56F-4756-96AA-144E9239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12001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86704-9DC7-4C36-B4D6-771EC662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Start analyse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76603-7B49-4AA3-A29F-DA22E312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14900"/>
            <a:ext cx="16954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08FA2-4167-4E0D-96B3-D8F6B33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43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4"/>
                </a:solidFill>
              </a:defRPr>
            </a:pPr>
            <a:r>
              <a:rPr sz="975" b="1">
                <a:solidFill>
                  <a:srgbClr val="172124"/>
                </a:solidFill>
              </a:rPr>
              <a:t>Vis eksempelresultat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7DED2-CED5-4EC8-B335-DD6EC15C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289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5F5"/>
          </a:solidFill>
          <a:ln xmlns:a="http://schemas.openxmlformats.org/drawingml/2006/main" w="9525">
            <a:solidFill>
              <a:srgbClr val="C5D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F1FE5-1B77-48B9-A9D6-D405E5EE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29025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0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F98B2-F5F7-462E-B149-83191D7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62375"/>
            <a:ext cx="8001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6E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C6EC5-A62D-4158-9309-CD4CF52A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81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63ACA-81EE-431F-821C-71AF76A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1409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35972-B019-4E08-8598-EF9EEB7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5159"/>
                </a:solidFill>
              </a:defRPr>
            </a:pPr>
            <a:r>
              <a:rPr sz="750" b="1">
                <a:solidFill>
                  <a:srgbClr val="0B5159"/>
                </a:solidFill>
              </a:rPr>
              <a:t>SAMLET 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71A7B8-C061-4FB2-B5E9-7B412DD2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62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4"/>
                </a:solidFill>
              </a:defRPr>
            </a:pPr>
            <a:r>
              <a:rPr sz="1800" b="1">
                <a:solidFill>
                  <a:srgbClr val="172124"/>
                </a:solidFill>
              </a:rPr>
              <a:t>78 / 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A2481-8242-4BFF-9A0D-B6C8AC65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3C33"/>
                </a:solidFill>
              </a:defRPr>
            </a:pPr>
            <a:r>
              <a:rPr sz="750" b="1">
                <a:solidFill>
                  <a:srgbClr val="A63C33"/>
                </a:solidFill>
              </a:rPr>
              <a:t>Høj risiko</a:t>
            </a:r>
          </a:p>
        </p:txBody>
      </p:sp>
    </p:spTree>
    <p:extLst>
      <p:ext uri="{BB962C8B-B14F-4D97-AF65-F5344CB8AC3E}">
        <p14:creationId xmlns:p14="http://schemas.microsoft.com/office/powerpoint/2010/main" val="876236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0BB8AA-DC7D-4DEE-9DA0-1DE9F85B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CE73A-6658-4192-93DA-67781894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5C26F-2302-475F-8147-80FFADF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5497D-68CC-4D70-9A82-39208A0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C3BBC-6558-4C77-A29A-7D740010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5F04-1F12-41F1-B9C4-1C677E4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4FB8C5-FE0A-41C1-9E57-109F9CB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Upload er den fælles og enkle indgang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A145D-554F-4B4F-8CC8-45E431EA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Både drag’n’drop og filvælgeren fører til samme analyseflow.</a:t>
            </a:r>
          </a:p>
        </p:txBody>
      </p:sp>
      <p:sp>
        <p:nvSpPr>
          <p:cNvPr id="9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16C1362E-B3CB-4A5E-B1C0-8101D59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17195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B861-3399-4421-9A8C-410D0CE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57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7EBCD-92CB-4B17-9B81-232BF8B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F0605-F721-441B-942D-F1B1EC4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669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A9C8-54FC-46EA-A769-A581A0A8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A0665-03BC-49CC-A6C5-84495EBA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5901"/>
            <a:ext cx="93345" cy="58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4CA0C-3AB9-446C-92EB-50B0796C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22345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16ACE-A1AA-45F3-B349-2B46442F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FEAF1-BBDA-47C6-94F5-155BD92C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81225"/>
            <a:ext cx="1952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48F2E-CEFE-465A-90F1-389A089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9075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VISNING   Projektkontrol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17885-86AB-4244-B417-10456606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516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A6E"/>
                </a:solidFill>
              </a:defRPr>
            </a:pPr>
            <a:r>
              <a:rPr sz="900" b="1">
                <a:solidFill>
                  <a:srgbClr val="5D6A6E"/>
                </a:solidFill>
              </a:rPr>
              <a:t>Dokumenter     Analyse     Risikovurdering     Handlingsplan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19DE1-D333-4724-A068-C396D38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295275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CBEBF-285A-4F61-B8D8-27FB46D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812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4"/>
                </a:solidFill>
              </a:defRPr>
            </a:pPr>
            <a:r>
              <a:rPr sz="825" b="1">
                <a:solidFill>
                  <a:srgbClr val="172124"/>
                </a:solidFill>
              </a:rPr>
              <a:t>Download demofiler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F1378-0739-40D4-977E-D652B254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DOKUMENTER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AD806-19B1-46B4-AAF3-A9D72195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4"/>
                </a:solidFill>
              </a:defRPr>
            </a:pPr>
            <a:r>
              <a:rPr sz="2100" b="1">
                <a:solidFill>
                  <a:srgbClr val="172124"/>
                </a:solidFill>
              </a:rPr>
              <a:t>Upload projektmaterialet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593B5-8EF6-4D49-A926-02D72EA4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CEF"/>
          </a:solidFill>
          <a:ln xmlns:a="http://schemas.openxmlformats.org/drawingml/2006/main" w="9525">
            <a:solidFill>
              <a:srgbClr val="BDD9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BAB29-9C81-4E94-BF4A-41D07E0B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159"/>
                </a:solidFill>
              </a:defRPr>
            </a:pPr>
            <a:r>
              <a:rPr sz="975" b="1">
                <a:solidFill>
                  <a:srgbClr val="0B5159"/>
                </a:solidFill>
              </a:rPr>
              <a:t>DEMOANALYSE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E408F-D004-4FEC-AFC4-EF4081F9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676275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6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6C89F-74E8-4BBE-8E57-FDFF12FD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86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F"/>
          </a:solidFill>
          <a:ln xmlns:a="http://schemas.openxmlformats.org/drawingml/2006/main" w="0">
            <a:solidFill>
              <a:srgbClr val="DC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DBA3D-E9BE-4BF9-8914-70F72E15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6E79"/>
                </a:solidFill>
              </a:defRPr>
            </a:pPr>
            <a:r>
              <a:rPr sz="1875" b="1">
                <a:solidFill>
                  <a:srgbClr val="126E79"/>
                </a:solidFill>
              </a:rPr>
              <a:t>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C8BF6-D24C-4C6B-951E-089226FC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1960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124"/>
                </a:solidFill>
              </a:defRPr>
            </a:pPr>
            <a:r>
              <a:rPr sz="1800" b="1">
                <a:solidFill>
                  <a:srgbClr val="172124"/>
                </a:solidFill>
              </a:rPr>
              <a:t>Træk filer hertil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AF6F2-E00C-4BD9-9E96-32D8D717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290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eller vælg dem fra din computer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575BA1-0511-42F6-9A7D-45D433E6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12001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DAF3D5-6285-4033-8639-6B65500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53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Vælg filer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2E75D-4FE4-4F37-A736-CC6C558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5626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A6E"/>
                </a:solidFill>
              </a:defRPr>
            </a:pPr>
            <a:r>
              <a:rPr sz="900" b="0">
                <a:solidFill>
                  <a:srgbClr val="5D6A6E"/>
                </a:solidFill>
              </a:rPr>
              <a:t>PDF · Word · Excel · PowerPoint · CSV · tekst · kode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0A0ED-5A18-4119-83CE-80AD52E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314325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33438"/>
          </a:solidFill>
          <a:ln xmlns:a="http://schemas.openxmlformats.org/drawingml/2006/main" w="9525">
            <a:solidFill>
              <a:srgbClr val="23343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0B8BB3-2E50-4F2B-918E-15F41DC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0D7"/>
                </a:solidFill>
              </a:defRPr>
            </a:pPr>
            <a:r>
              <a:rPr sz="825" b="1">
                <a:solidFill>
                  <a:srgbClr val="8ED0D7"/>
                </a:solidFill>
              </a:rPr>
              <a:t>PRØV PROJEKT AURORA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684DC-5CE4-45FE-9CE4-CA73113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52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Tre klik til et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realistisk eksempel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43EB8E-1869-4839-ABE7-0BA5D93A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0E2"/>
                </a:solidFill>
              </a:defRPr>
            </a:pPr>
            <a:r>
              <a:rPr sz="1125" b="0">
                <a:solidFill>
                  <a:srgbClr val="D6E0E2"/>
                </a:solidFill>
              </a:rPr>
              <a:t>1  Download projektfilerne</a:t>
            </a:r>
          </a:p>
          <a:p xmlns:a="http://schemas.openxmlformats.org/drawingml/2006/main">
            <a:pPr algn="l">
              <a:defRPr sz="1125" b="0">
                <a:solidFill>
                  <a:srgbClr val="D6E0E2"/>
                </a:solidFill>
              </a:defRPr>
            </a:pPr>
            <a:r>
              <a:rPr sz="1125" b="0">
                <a:solidFill>
                  <a:srgbClr val="D6E0E2"/>
                </a:solidFill>
              </a:rPr>
              <a:t>2  Udpak ZIP-filen</a:t>
            </a:r>
          </a:p>
          <a:p xmlns:a="http://schemas.openxmlformats.org/drawingml/2006/main">
            <a:pPr algn="l">
              <a:defRPr sz="1125" b="0">
                <a:solidFill>
                  <a:srgbClr val="D6E0E2"/>
                </a:solidFill>
              </a:defRPr>
            </a:pPr>
            <a:r>
              <a:rPr sz="1125" b="0">
                <a:solidFill>
                  <a:srgbClr val="D6E0E2"/>
                </a:solidFill>
              </a:rPr>
              <a:t>3  Upload og se analysen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911A20-92E3-4327-A916-BF9211B9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62600"/>
            <a:ext cx="23812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15E824-1BDC-41A5-9BCE-C9F0F34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911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4"/>
                </a:solidFill>
              </a:defRPr>
            </a:pPr>
            <a:r>
              <a:rPr sz="975" b="1">
                <a:solidFill>
                  <a:srgbClr val="172124"/>
                </a:solidFill>
              </a:rPr>
              <a:t>Download Projekt Aurora</a:t>
            </a:r>
          </a:p>
        </p:txBody>
      </p:sp>
    </p:spTree>
    <p:extLst>
      <p:ext uri="{BB962C8B-B14F-4D97-AF65-F5344CB8AC3E}">
        <p14:creationId xmlns:p14="http://schemas.microsoft.com/office/powerpoint/2010/main" val="33732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33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E731F3-88B9-4D3A-8E14-5225A2B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D0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B3742-62AD-4FBB-AC67-B8B94724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ED0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DBBA-5CD3-4026-8EB4-9A815D39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E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5BBDB-F0EB-4CFC-9B57-571FF93D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74F11-924C-45A5-AB98-0BEE8082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28EF8-9B0F-413C-B12E-F90D440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8F5634-B8F3-404F-976C-3C9B756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Projektkontrol gør konflikter handlingsklare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D6EF7-C855-49CC-80B3-8CD8564B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EDADD"/>
                </a:solidFill>
              </a:defRPr>
            </a:pPr>
            <a:r>
              <a:rPr sz="1350" b="0">
                <a:solidFill>
                  <a:srgbClr val="CEDADD"/>
                </a:solidFill>
              </a:rPr>
              <a:t>Resultatet prioriterer det, ledelsen skal forstå og gøre først.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D6A08-9CC2-43D5-A701-2FB59992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096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A1EB9-C875-4A34-9C1E-7B944B15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0287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DEMOANALYSE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7BD8E-84B1-454B-A5F8-839790D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344A4F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8DE52-25A0-4C66-A297-311297F2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SAMLET RISIKONIVEAU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5F168-757F-43A4-B5D1-F2F10C8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78 / 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B29C6-E683-42A7-B025-DA11FCA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Høj · kræver aktiv opfølgning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F69F6-5832-427E-972F-AD50489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3812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3E1D1-88A3-4719-9979-8546A6D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383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DOKUMENTKONFLIKTER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35547-4321-475F-91AB-30284E8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479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9BD3A-DED0-4902-9E99-03D5C319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Forskellige svar i kilderne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C7447-E6D0-494C-B6A5-05791502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23812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E82A0-E302-43ED-A0B3-51A5FDF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MANGLENDE BESLUTNINGER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99507-1249-47A7-A193-0CACF9E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479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ACEF2-324E-4C3F-B8F0-7B2E525D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Før projektet kan baselines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FC77-E752-4B4A-8F26-1EF35242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2381250" cy="14859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8741D-B266-4FB2-81A2-74B3AFA4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383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KRITISKE HANDLINGER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CFF14-4FB2-445B-A304-DC8A9BC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479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ECAD8-2C72-47AD-8048-97AA7A3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Højeste prioritet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B71CA-D83C-4648-980F-EE304A9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762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6BDFBA-D231-4D0A-A7EE-C150FBF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D0D7"/>
                </a:solidFill>
              </a:defRPr>
            </a:pPr>
            <a:r>
              <a:rPr sz="825" b="1">
                <a:solidFill>
                  <a:srgbClr val="8ED0D7"/>
                </a:solidFill>
              </a:rPr>
              <a:t>HVOR PROJEKTET ER MEST UDSAT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08D6D-E7A7-443F-8EC0-7367551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Sikkerhed 91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DE970-31B2-4612-8009-8DE3A47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85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915AA-853B-4D5D-BAA7-FC73A4A7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5147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3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8A7FC-6CA5-4D2B-B279-58487A4B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EDADD"/>
                </a:solidFill>
              </a:defRPr>
            </a:pPr>
            <a:r>
              <a:rPr sz="1200" b="0">
                <a:solidFill>
                  <a:srgbClr val="CEDADD"/>
                </a:solidFill>
              </a:rPr>
              <a:t>Tidsplan 84  ·  Beslutninger 86  ·  Data 79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589E4A-721C-431D-8FA1-4424B94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D0D7"/>
                </a:solidFill>
              </a:defRPr>
            </a:pPr>
            <a:r>
              <a:rPr sz="1050" b="1">
                <a:solidFill>
                  <a:srgbClr val="8ED0D7"/>
                </a:solidFill>
              </a:rPr>
              <a:t>Radar og evidens viser, hvorfor signalet er højt.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09C9E-2ED6-4482-8C4F-88FA72D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596265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CF391-EC42-4D74-ABC4-C7726028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KRÆVER BESLUTNING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9C4941-A8A0-48B9-B8EC-01A1DF5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81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4"/>
                </a:solidFill>
              </a:defRPr>
            </a:pPr>
            <a:r>
              <a:rPr sz="1800" b="1">
                <a:solidFill>
                  <a:srgbClr val="172124"/>
                </a:solidFill>
              </a:rPr>
              <a:t>Ledelsespunkter først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DF576-E357-488C-A367-EA88E2ED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10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3C33"/>
          </a:solidFill>
          <a:ln xmlns:a="http://schemas.openxmlformats.org/drawingml/2006/main" w="9525">
            <a:solidFill>
              <a:srgbClr val="A63C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8DE8D7-5D2D-4698-99FA-2A0FCCDE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10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B4D04-9337-4779-851D-D7D2B0CD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529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4"/>
                </a:solidFill>
              </a:defRPr>
            </a:pPr>
            <a:r>
              <a:rPr sz="1275" b="1">
                <a:solidFill>
                  <a:srgbClr val="172124"/>
                </a:solidFill>
              </a:rPr>
              <a:t>Fastlæg én bindende go-live-dato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2DDDA5-F5C4-4911-B12D-A22C759A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48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A6E"/>
                </a:solidFill>
              </a:defRPr>
            </a:pPr>
            <a:r>
              <a:rPr sz="1050" b="0">
                <a:solidFill>
                  <a:srgbClr val="5D6A6E"/>
                </a:solidFill>
              </a:rPr>
              <a:t>Plan, sikkerhedstest og leverandørplan kan ikke baselines før datoen er besluttet.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B5F458-E93D-449F-B847-51DC937F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00700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4D5FDC-59BD-4554-A13C-F913D92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959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159"/>
                </a:solidFill>
              </a:defRPr>
            </a:pPr>
            <a:r>
              <a:rPr sz="1050" b="1">
                <a:solidFill>
                  <a:srgbClr val="0B5159"/>
                </a:solidFill>
              </a:rPr>
              <a:t>Næste: ansvar, deadline, status, kanban og tidslinje</a:t>
            </a:r>
          </a:p>
        </p:txBody>
      </p:sp>
    </p:spTree>
    <p:extLst>
      <p:ext uri="{BB962C8B-B14F-4D97-AF65-F5344CB8AC3E}">
        <p14:creationId xmlns:p14="http://schemas.microsoft.com/office/powerpoint/2010/main" val="2073097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662E44-7125-4E60-85DD-4595ECD2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744F-63DD-44A0-AE18-0563D9AD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5A0C5-F150-4332-83A7-A6788B5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3AE49-5F81-44D5-90FC-A5753BF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8EF14-B20A-42C5-9F0C-3AE7367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0C14F-225B-4B87-B8BC-8FA21F5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53BE9D-DC18-4355-A604-4B89B78E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Arkitekturoverblik skifter spørgsmålet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64F43-224A-4FFE-89E2-38B1416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Hvad er entydigt nok til at kode—og hvad skal afklares først?</a:t>
            </a:r>
          </a:p>
        </p:txBody>
      </p:sp>
      <p:sp>
        <p:nvSpPr>
          <p:cNvPr id="9" name="browser-frame">
            <a:extLst xmlns:a="http://schemas.openxmlformats.org/drawingml/2006/main">
              <a:ext uri="{FF2B5EF4-FFF2-40B4-BE49-F238E27FC236}">
                <a16:creationId xmlns:a16="http://schemas.microsoft.com/office/drawing/2014/main" id="{46C6743A-DCB9-494A-84A5-F1D91EE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0576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C097E-65C0-4236-AD28-6EC5CA5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57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83795-DB63-4698-860E-DDBC1A02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DA2C0-B571-4F3C-8FEF-7E2281F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321F4-0F96-4744-BE92-1F0B0661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D5B52-837D-497C-B5FD-3150BE2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4951"/>
            <a:ext cx="93345" cy="58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0E071-4A14-4506-9635-54BC456C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" y="22536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0A7CC-3EDA-40CE-9A2C-F96D270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4"/>
                </a:solidFill>
              </a:defRPr>
            </a:pPr>
            <a:r>
              <a:rPr sz="11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8A361-FDEC-49A2-8706-7599259E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0275"/>
            <a:ext cx="1952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B9E86-56E0-439E-9B27-4A614DE7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VISNING   Arkitekturoverblik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B6D73-0836-4127-93F7-CFC2CDEF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516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6A6E"/>
                </a:solidFill>
              </a:defRPr>
            </a:pPr>
            <a:r>
              <a:rPr sz="900" b="1">
                <a:solidFill>
                  <a:srgbClr val="5D6A6E"/>
                </a:solidFill>
              </a:rPr>
              <a:t>Filer     Specifikationer     Konflikter     Udviklingsplan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7FC2-FA36-4518-B64C-ED4F4B7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466850" cy="295275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8100B-C5D8-41A5-8BAB-354CA7B6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0027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4"/>
                </a:solidFill>
              </a:defRPr>
            </a:pPr>
            <a:r>
              <a:rPr sz="825" b="1">
                <a:solidFill>
                  <a:srgbClr val="172124"/>
                </a:solidFill>
              </a:rPr>
              <a:t>Download arkitektfiler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4D951-2088-4A1A-989B-7531DF8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UDVIKLEROVERBLIK FRA ARKITEKTENS FILKAOS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2FCEA-6B1B-4562-A891-F5749C02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5381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4"/>
                </a:solidFill>
              </a:defRPr>
            </a:pPr>
            <a:r>
              <a:rPr sz="2550" b="1">
                <a:solidFill>
                  <a:srgbClr val="172124"/>
                </a:solidFill>
              </a:rPr>
              <a:t>Find den implementerbare</a:t>
            </a:r>
          </a:p>
          <a:p xmlns:a="http://schemas.openxmlformats.org/drawingml/2006/main">
            <a:pPr algn="l">
              <a:defRPr sz="2550" b="1">
                <a:solidFill>
                  <a:srgbClr val="172124"/>
                </a:solidFill>
              </a:defRPr>
            </a:pPr>
            <a:r>
              <a:rPr sz="2550" b="1">
                <a:solidFill>
                  <a:srgbClr val="172124"/>
                </a:solidFill>
              </a:rPr>
              <a:t>specifikation i rodet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2CC10-106F-40CE-970C-33B89042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62425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E"/>
                </a:solidFill>
              </a:defRPr>
            </a:pPr>
            <a:r>
              <a:rPr sz="1200" b="0">
                <a:solidFill>
                  <a:srgbClr val="5D6A6E"/>
                </a:solidFill>
              </a:rPr>
              <a:t>Noter, API-udkast, ADR’er, schemas, SQL, mails og integrationslister samles til ét teknisk situationsbillede.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24F11-4815-4F37-9ADF-B57291D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16764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29854-4531-424F-A230-8C9839E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Analysér arkitektfiler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7BF25-F6B8-4AC7-86F2-9046DB8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14900"/>
            <a:ext cx="16764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A0989-A1AA-4426-AE91-960BD8A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43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4"/>
                </a:solidFill>
              </a:defRPr>
            </a:pPr>
            <a:r>
              <a:rPr sz="975" b="1">
                <a:solidFill>
                  <a:srgbClr val="172124"/>
                </a:solidFill>
              </a:rPr>
              <a:t>Vis udviklereksempel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08888-66A6-463F-92A6-915E2AB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3714750" cy="2247900"/>
          </a:xfrm>
          <a:prstGeom xmlns:a="http://schemas.openxmlformats.org/drawingml/2006/main" prst="roundRect">
            <a:avLst>
              <a:gd name="adj" fmla="val 6356"/>
            </a:avLst>
          </a:prstGeom>
          <a:solidFill xmlns:a="http://schemas.openxmlformats.org/drawingml/2006/main">
            <a:srgbClr val="18282B"/>
          </a:solidFill>
          <a:ln xmlns:a="http://schemas.openxmlformats.org/drawingml/2006/main" w="9525">
            <a:solidFill>
              <a:srgbClr val="3850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30511E-152F-48EF-A8F1-5D189B3D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E1E3"/>
                </a:solidFill>
              </a:defRPr>
            </a:pPr>
            <a:r>
              <a:rPr sz="900" b="1">
                <a:solidFill>
                  <a:srgbClr val="D5E1E3"/>
                </a:solidFill>
              </a:rPr>
              <a:t>architecture-notes_FINAL_v3.md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BCA21-57C5-45A7-9FB0-BCAF9C3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6235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0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A86528-9BB3-427A-BCAB-7565483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14750"/>
            <a:ext cx="31908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F3F4"/>
                </a:solidFill>
              </a:defRPr>
            </a:pPr>
            <a:r>
              <a:rPr sz="1125" b="0">
                <a:solidFill>
                  <a:srgbClr val="E8F3F4"/>
                </a:solidFill>
              </a:rPr>
              <a:t>API      /api/v1/orders                 ?</a:t>
            </a:r>
          </a:p>
          <a:p xmlns:a="http://schemas.openxmlformats.org/drawingml/2006/main">
            <a:pPr algn="l">
              <a:defRPr sz="1125" b="0">
                <a:solidFill>
                  <a:srgbClr val="E8F3F4"/>
                </a:solidFill>
              </a:defRPr>
            </a:pPr>
            <a:r>
              <a:rPr sz="1125" b="0">
                <a:solidFill>
                  <a:srgbClr val="E8F3F4"/>
                </a:solidFill>
              </a:rPr>
              <a:t>NOTE   maybe /api/orders/v2       !</a:t>
            </a:r>
          </a:p>
          <a:p xmlns:a="http://schemas.openxmlformats.org/drawingml/2006/main">
            <a:pPr algn="l">
              <a:defRPr sz="1125" b="0">
                <a:solidFill>
                  <a:srgbClr val="E8F3F4"/>
                </a:solidFill>
              </a:defRPr>
            </a:pPr>
            <a:r>
              <a:rPr sz="1125" b="0">
                <a:solidFill>
                  <a:srgbClr val="E8F3F4"/>
                </a:solidFill>
              </a:rPr>
              <a:t>AUTH   OAuth2 client credentials  ✓</a:t>
            </a:r>
          </a:p>
          <a:p xmlns:a="http://schemas.openxmlformats.org/drawingml/2006/main">
            <a:pPr algn="l">
              <a:defRPr sz="1125" b="0">
                <a:solidFill>
                  <a:srgbClr val="E8F3F4"/>
                </a:solidFill>
              </a:defRPr>
            </a:pPr>
            <a:r>
              <a:rPr sz="1125" b="0">
                <a:solidFill>
                  <a:srgbClr val="E8F3F4"/>
                </a:solidFill>
              </a:rPr>
              <a:t>EVENT correlationId missing          !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96B459-994D-4891-B703-341CDE2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11620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572942-7337-4E69-8C86-9766E8A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B5159"/>
                </a:solidFill>
              </a:defRPr>
            </a:pPr>
            <a:r>
              <a:rPr sz="675" b="1">
                <a:solidFill>
                  <a:srgbClr val="0B5159"/>
                </a:solidFill>
              </a:rPr>
              <a:t>SPEC-DÆKNING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C797BB-6B5F-4960-85A4-8901CC0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4"/>
                </a:solidFill>
              </a:defRPr>
            </a:pPr>
            <a:r>
              <a:rPr sz="1725" b="1">
                <a:solidFill>
                  <a:srgbClr val="172124"/>
                </a:solidFill>
              </a:rPr>
              <a:t>68%</a:t>
            </a:r>
          </a:p>
        </p:txBody>
      </p:sp>
    </p:spTree>
    <p:extLst>
      <p:ext uri="{BB962C8B-B14F-4D97-AF65-F5344CB8AC3E}">
        <p14:creationId xmlns:p14="http://schemas.microsoft.com/office/powerpoint/2010/main" val="459545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3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68DC6A-E3F9-4795-9A1D-E0527FB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D0D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EAAC6-6780-4A11-996F-792CC8DB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ED0D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3D684-FD25-4537-AC07-8719968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E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1E7E8-EF5F-4515-813E-C2802A86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D392C-1823-44FB-ABE5-A3069F2F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A189B-0C35-4E16-97F0-B1E8DD43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0B7947-4ED9-4DAC-B415-596C1C77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Arkitekturresultatet viser klar retning og blokeringer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F14DF-5FC4-4D54-AB72-240A281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EDADD"/>
                </a:solidFill>
              </a:defRPr>
            </a:pPr>
            <a:r>
              <a:rPr sz="1350" b="0">
                <a:solidFill>
                  <a:srgbClr val="CEDADD"/>
                </a:solidFill>
              </a:rPr>
              <a:t>Det tekniske overblik binder krav, interfaces, konflikter og evidens sammen.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31907-0637-4A07-B74E-DEAFF36E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670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344A4F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FA51C-CC0F-47B9-B96D-3E1AE9A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SPECIFIKATIONSDÆKNING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D3E6D-11E0-43CB-BCFB-C5E00C4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68%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B5411-C442-4478-B019-507AD3DF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Delvist afklaret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AB697-74CE-4F4C-9F30-8BB5AE6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38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26412-D5D6-4135-AD51-6CBC567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0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KONFLIKTER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F2C70-F23E-4AAF-927A-6996B59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98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AE5AF-D41A-4C9C-ACC9-48923DD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Filer giver forskellige svar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14C85-1A79-4E65-9748-6CB9C18C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38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51459-D7F8-4BB2-88D1-D21290E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0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INTERFACES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ADA42-4004-402B-A2D9-005CF8ED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98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C9973-33E0-4FCE-B2CF-5B53B3E3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Synkrone og asynkrone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1028D-D9BC-4629-8F85-42E85770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3812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2D4146"/>
          </a:solidFill>
          <a:ln xmlns:a="http://schemas.openxmlformats.org/drawingml/2006/main" w="9525">
            <a:solidFill>
              <a:srgbClr val="3F5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92BB0-AD07-48F1-AA71-FCD041F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0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D9DE"/>
                </a:solidFill>
              </a:defRPr>
            </a:pPr>
            <a:r>
              <a:rPr sz="825" b="1">
                <a:solidFill>
                  <a:srgbClr val="A9D9DE"/>
                </a:solidFill>
              </a:rPr>
              <a:t>ÅBNE SPØRGSMÅL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22B52-88AC-41D8-927F-0DC12AE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98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BA483-8B20-4433-B0EC-8EF05BF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EDADD"/>
                </a:solidFill>
              </a:defRPr>
            </a:pPr>
            <a:r>
              <a:rPr sz="900" b="0">
                <a:solidFill>
                  <a:srgbClr val="CEDADD"/>
                </a:solidFill>
              </a:rPr>
              <a:t>Påvirker kode og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91E0E-B743-4559-BCDE-697CB90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33400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E72A6-9526-4738-9A77-463D7A20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SYSTEMBILLEDE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DB7AD-BD2A-4204-AB5F-8C82CD12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4"/>
                </a:solidFill>
              </a:defRPr>
            </a:pPr>
            <a:r>
              <a:rPr sz="1500" b="1">
                <a:solidFill>
                  <a:srgbClr val="172124"/>
                </a:solidFill>
              </a:rPr>
              <a:t>Den arkitektur filerne tilsammen beskriver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E5B84-C3F2-4BE1-B5C8-3D68A34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14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81D99-EAF2-4BCD-BEF1-542ADA0F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257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6E79"/>
          </a:solidFill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C39DF-6A89-423F-96D0-1959218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258AB-6D55-462D-950C-F3BE6C4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6E79"/>
                </a:solidFill>
              </a:defRPr>
            </a:pPr>
            <a:r>
              <a:rPr sz="1800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ADCEA-8C77-41B3-90ED-7F63E6D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14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6E79"/>
                </a:solidFill>
              </a:defRPr>
            </a:pPr>
            <a:r>
              <a:rPr sz="1800" b="1">
                <a:solidFill>
                  <a:srgbClr val="126E79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74F8F-87E9-4077-8BB1-0344B337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4"/>
                </a:solidFill>
              </a:defRPr>
            </a:pPr>
            <a:r>
              <a:rPr sz="1050" b="1">
                <a:solidFill>
                  <a:srgbClr val="172124"/>
                </a:solidFill>
              </a:rPr>
              <a:t>Web / BFF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87B5B-F79A-46E8-82BC-45229928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530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Order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897644-D00B-4083-B7A4-120EE34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768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4"/>
                </a:solidFill>
              </a:defRPr>
            </a:pPr>
            <a:r>
              <a:rPr sz="975" b="1">
                <a:solidFill>
                  <a:srgbClr val="172124"/>
                </a:solidFill>
              </a:rPr>
              <a:t>Customer Registry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32CA4-5C83-4318-AD5C-56E07000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A6E"/>
                </a:solidFill>
              </a:defRPr>
            </a:pPr>
            <a:r>
              <a:rPr sz="1050" b="1">
                <a:solidFill>
                  <a:srgbClr val="5D6A6E"/>
                </a:solidFill>
              </a:rPr>
              <a:t>OAuth2 IdP   ·   Service Bus   ·   Billing Adapter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07CD6-C091-4105-A153-5BD743B4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539115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88195E-03B1-4249-9014-49E9A41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5159"/>
                </a:solidFill>
              </a:defRPr>
            </a:pPr>
            <a:r>
              <a:rPr sz="825" b="1">
                <a:solidFill>
                  <a:srgbClr val="0B5159"/>
                </a:solidFill>
              </a:rPr>
              <a:t>KONFLIKT GJORT HANDLINGSBAR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240EE7-FB00-40F0-A174-E42FEBB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4"/>
                </a:solidFill>
              </a:defRPr>
            </a:pPr>
            <a:r>
              <a:rPr sz="1500" b="1">
                <a:solidFill>
                  <a:srgbClr val="172124"/>
                </a:solidFill>
              </a:rPr>
              <a:t>API-versionering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79B74-178C-4C82-B5AA-370F937D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23050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7DF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756F75-0AE5-419A-8657-0B4D9A25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9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</a:defRPr>
            </a:pPr>
            <a:r>
              <a:rPr sz="1050" b="1">
                <a:solidFill>
                  <a:srgbClr val="172124"/>
                </a:solidFill>
              </a:rPr>
              <a:t>Fil A   /api/v1/orders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363223-EDD2-41CA-A91A-91D4056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3050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8E8E6"/>
          </a:solidFill>
          <a:ln xmlns:a="http://schemas.openxmlformats.org/drawingml/2006/main" w="9525">
            <a:solidFill>
              <a:srgbClr val="E3BD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25907F-9192-4ACF-8A3B-BD5EFB5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3C33"/>
                </a:solidFill>
              </a:defRPr>
            </a:pPr>
            <a:r>
              <a:rPr sz="1050" b="1">
                <a:solidFill>
                  <a:srgbClr val="A63C33"/>
                </a:solidFill>
              </a:rPr>
              <a:t>Fil B   /api/orders/v2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DB43C4-E3D5-450A-BB79-17C4D8A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159"/>
                </a:solidFill>
              </a:defRPr>
            </a:pPr>
            <a:r>
              <a:rPr sz="900" b="1">
                <a:solidFill>
                  <a:srgbClr val="0B5159"/>
                </a:solidFill>
              </a:rPr>
              <a:t>Arbejdshypotese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499FA0-51C1-4529-8DF2-35D5D8A5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4"/>
                </a:solidFill>
              </a:defRPr>
            </a:pPr>
            <a:r>
              <a:rPr sz="1050" b="1">
                <a:solidFill>
                  <a:srgbClr val="172124"/>
                </a:solidFill>
              </a:rPr>
              <a:t>Behold /api/v1/orders, indtil API-ejer godkender en ny kontrakt.</a:t>
            </a:r>
          </a:p>
        </p:txBody>
      </p:sp>
    </p:spTree>
    <p:extLst>
      <p:ext uri="{BB962C8B-B14F-4D97-AF65-F5344CB8AC3E}">
        <p14:creationId xmlns:p14="http://schemas.microsoft.com/office/powerpoint/2010/main" val="578240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724AE-4FD4-4F20-B82F-581BD06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14CFF-5FE3-4183-A2AE-A22622B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BF31-72DA-4DE2-9968-EE7DD93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95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6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FCE90-7588-4AE4-AFDC-19CA89DD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7378"/>
            <a:ext cx="113347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6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C836-7A07-4FDF-8880-52849868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" y="33147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A1F"/>
          </a:solidFill>
          <a:ln xmlns:a="http://schemas.openxmlformats.org/drawingml/2006/main" w="9525">
            <a:solidFill>
              <a:srgbClr val="D07A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3BEA4-3C1B-404E-AD7F-EA903CD6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4"/>
                </a:solidFill>
              </a:defRPr>
            </a:pPr>
            <a:r>
              <a:rPr sz="1425" b="1">
                <a:solidFill>
                  <a:srgbClr val="172124"/>
                </a:solidFill>
              </a:rPr>
              <a:t>ProjektRadar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06C417-10E2-4F32-B13D-7C92F2D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4"/>
                </a:solidFill>
              </a:defRPr>
            </a:pPr>
            <a:r>
              <a:rPr sz="2850" b="1">
                <a:solidFill>
                  <a:srgbClr val="172124"/>
                </a:solidFill>
              </a:rPr>
              <a:t>ProjektRadar lukker hullet mellem dokumenter og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54887-5656-4E3D-812D-F57673B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E"/>
                </a:solidFill>
              </a:defRPr>
            </a:pPr>
            <a:r>
              <a:rPr sz="1350" b="0">
                <a:solidFill>
                  <a:srgbClr val="5D6A6E"/>
                </a:solidFill>
              </a:rPr>
              <a:t>Værdien er ikke blot en analyse—det er et fælles sted at forstå, prioritere og komme videre.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83F32-F6B1-466C-A553-CA9582A5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3438"/>
          </a:solidFill>
          <a:ln xmlns:a="http://schemas.openxmlformats.org/drawingml/2006/main" w="9525">
            <a:solidFill>
              <a:srgbClr val="2334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43CDC-ACF5-47E3-854E-81C5550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Uens filer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D7A8E-C527-4CDE-A4E4-310EA54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19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0D7"/>
                </a:solidFill>
              </a:defRPr>
            </a:pPr>
            <a:r>
              <a:rPr sz="2250" b="1">
                <a:solidFill>
                  <a:srgbClr val="8ED0D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8C310-16D6-4CFF-B365-565E4C82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Rollebaseret analyse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17CCB-3C90-4387-95DB-797730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19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0D7"/>
                </a:solidFill>
              </a:defRPr>
            </a:pPr>
            <a:r>
              <a:rPr sz="2250" b="1">
                <a:solidFill>
                  <a:srgbClr val="8ED0D7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813DA-97EC-43FA-9D9B-1E33967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Sporbart overblik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16C92-EC08-4D8D-86F5-4EA38E3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D0D7"/>
                </a:solidFill>
              </a:defRPr>
            </a:pPr>
            <a:r>
              <a:rPr sz="2250" b="1">
                <a:solidFill>
                  <a:srgbClr val="8ED0D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17C83-C693-48BB-9889-50D6F59E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Næste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08133-91D7-4F3C-9688-76A11DB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159"/>
                </a:solidFill>
              </a:defRPr>
            </a:pPr>
            <a:r>
              <a:rPr sz="1725" b="1">
                <a:solidFill>
                  <a:srgbClr val="0B5159"/>
                </a:solidFill>
              </a:rPr>
              <a:t>Ledelsen får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B681A-4E27-46AE-ABE1-2430917F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Prioriterede risici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Beslutninger og ansvar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Fremdrift og PDF-resultat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613F9-BC3F-49E1-A082-31DC469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159"/>
                </a:solidFill>
              </a:defRPr>
            </a:pPr>
            <a:r>
              <a:rPr sz="1725" b="1">
                <a:solidFill>
                  <a:srgbClr val="0B5159"/>
                </a:solidFill>
              </a:rPr>
              <a:t>Udvikleren får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06F93-8B3E-4033-835F-F08F5A9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Implementerbare krav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Konflikter med kilder</a:t>
            </a:r>
          </a:p>
          <a:p xmlns:a="http://schemas.openxmlformats.org/drawingml/2006/main">
            <a:pPr algn="l">
              <a:defRPr sz="1350" b="0">
                <a:solidFill>
                  <a:srgbClr val="172124"/>
                </a:solidFill>
              </a:defRPr>
            </a:pPr>
            <a:r>
              <a:rPr sz="1350" b="0">
                <a:solidFill>
                  <a:srgbClr val="172124"/>
                </a:solidFill>
              </a:rPr>
              <a:t>• Klare blokeringer og spørgsmål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265C2-7753-4286-9553-C34063D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9525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F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C0165-4F5E-4DCC-AC4D-A1FAFF1C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CEF"/>
          </a:solidFill>
          <a:ln xmlns:a="http://schemas.openxmlformats.org/drawingml/2006/main" w="0">
            <a:solidFill>
              <a:srgbClr val="DCEC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16909-9EA9-4F43-94B0-5668DE53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5159"/>
                </a:solidFill>
              </a:defRPr>
            </a:pPr>
            <a:r>
              <a:rPr sz="1650" b="1">
                <a:solidFill>
                  <a:srgbClr val="0B5159"/>
                </a:solidFill>
              </a:rPr>
              <a:t>Samme enkle flow. To præcise perspektiver. Ét samlet ProjektRadar.</a:t>
            </a:r>
          </a:p>
        </p:txBody>
      </p:sp>
    </p:spTree>
    <p:extLst>
      <p:ext uri="{BB962C8B-B14F-4D97-AF65-F5344CB8AC3E}">
        <p14:creationId xmlns:p14="http://schemas.microsoft.com/office/powerpoint/2010/main" val="760209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2026-08-28T19:29:05.0960000Z</dcterms:created>
  <dcterms:modified xsi:type="dcterms:W3CDTF">2026-08-28T19:29:05.0960000Z</dcterms:modified>
</coreProperties>
</file>